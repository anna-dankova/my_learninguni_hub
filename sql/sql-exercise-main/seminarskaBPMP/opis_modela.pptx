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B62D3F-B5D7-4276-A15E-BA537A176E9F}">
  <a:tblStyle styleId="{ECB62D3F-B5D7-4276-A15E-BA537A176E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3" d="100"/>
          <a:sy n="193" d="100"/>
        </p:scale>
        <p:origin x="900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124c12be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124c12be1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124c12be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124c12be1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124c12be1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124c12be1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124c12be1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124c12be1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124c12be1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124c12be1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124c12be1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124c12be1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124c12be1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124c12be1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124c12be1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124c12be1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24c12be1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124c12be1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124c12be1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124c12be1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124c12be1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124c12be1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124c12be1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124c12be1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124c12be1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124c12be1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124c12be1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124c12be1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124c12be1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124c12be1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124c12be1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124c12be1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235875" y="98929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Katalog video iger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235875" y="1874659"/>
            <a:ext cx="8222100" cy="22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Podatkovni model - MySQL Workbench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Anna Dankova, </a:t>
            </a:r>
            <a:r>
              <a:rPr lang="en-US" dirty="0"/>
              <a:t>20</a:t>
            </a:r>
            <a:r>
              <a:rPr lang="ru" dirty="0"/>
              <a:t>25</a:t>
            </a:r>
            <a:r>
              <a:rPr lang="en-US" dirty="0"/>
              <a:t>/</a:t>
            </a:r>
            <a:r>
              <a:rPr lang="ru" dirty="0"/>
              <a:t>26, BPMP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147675" y="887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Namen praktične uporabe</a:t>
            </a:r>
            <a:r>
              <a:rPr lang="ru" sz="19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38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Baza podatkov </a:t>
            </a:r>
            <a:r>
              <a:rPr lang="ru" sz="1400" b="1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Game Catalog</a:t>
            </a:r>
            <a:r>
              <a:rPr lang="ru" sz="14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 simulira digitalno prodajalno video iger – podobno kot Steam ali GOG. Omogoča sledenje igram, studiom, platformam, strankam, nakupom in ocenam.</a:t>
            </a:r>
            <a:r>
              <a:rPr lang="ru" sz="13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700"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Arial"/>
                <a:ea typeface="Arial"/>
                <a:cs typeface="Arial"/>
                <a:sym typeface="Arial"/>
              </a:rPr>
              <a:t>Sistem omogoča: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Clr>
                <a:srgbClr val="1E1D1C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Prodaja iger — Sledenje nakupom, cenam in popustom</a:t>
            </a:r>
            <a:endParaRPr sz="1400"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E1D1C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Stranke — Registracija, nakupi, ocene iger</a:t>
            </a:r>
            <a:endParaRPr sz="1400"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1E1D1C"/>
              </a:buClr>
              <a:buSzPts val="1400"/>
              <a:buFont typeface="Georgia"/>
              <a:buChar char="●"/>
            </a:pPr>
            <a:r>
              <a:rPr lang="ru" sz="14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Analitika — Poizvedbe, povprečja, statistike</a:t>
            </a:r>
            <a:endParaRPr sz="1400"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311700" y="1024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Entitetni model — shema tabel</a:t>
            </a:r>
            <a:r>
              <a:rPr lang="ru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5534200" y="901425"/>
            <a:ext cx="3485400" cy="23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vsebuje </a:t>
            </a:r>
            <a:r>
              <a:rPr lang="ru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tabel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 10 povezavami.</a:t>
            </a:r>
            <a:r>
              <a:rPr lang="ru" sz="12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Vse so normalizirane do </a:t>
            </a:r>
            <a:r>
              <a:rPr lang="ru" sz="1200" b="1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3. normalne oblike (3NF)</a:t>
            </a:r>
            <a:r>
              <a:rPr lang="ru" sz="12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200"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Osrednja tabela je </a:t>
            </a:r>
            <a:r>
              <a:rPr lang="ru" sz="1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ki je povezana z vsemi ostalimi entitetami.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 b="1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ru" sz="12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ru" sz="1200" i="1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samodejno številčenje</a:t>
            </a:r>
            <a:r>
              <a:rPr lang="ru" sz="12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NN</a:t>
            </a:r>
            <a:r>
              <a:rPr lang="ru" sz="12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ru" sz="1200" i="1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vrednost je obvezna (ne sme biti NULL)</a:t>
            </a:r>
            <a:endParaRPr sz="1200"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UQ</a:t>
            </a:r>
            <a:r>
              <a:rPr lang="ru" sz="12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ru" sz="1200" i="1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vrednosti morajo biti edinstvene</a:t>
            </a:r>
            <a:r>
              <a:rPr lang="ru" sz="1200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26225"/>
            <a:ext cx="5102983" cy="432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0" y="58950"/>
            <a:ext cx="1788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290075" y="1237100"/>
            <a:ext cx="2292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1075750" y="370263"/>
          <a:ext cx="6597750" cy="4205940"/>
        </p:xfrm>
        <a:graphic>
          <a:graphicData uri="http://schemas.openxmlformats.org/drawingml/2006/table">
            <a:tbl>
              <a:tblPr>
                <a:noFill/>
                <a:tableStyleId>{ECB62D3F-B5D7-4276-A15E-BA537A176E9F}</a:tableStyleId>
              </a:tblPr>
              <a:tblGrid>
                <a:gridCol w="221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/>
                        <a:t>Tabele</a:t>
                      </a:r>
                      <a:endParaRPr sz="1600" b="1"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/>
                        <a:t>Tip</a:t>
                      </a:r>
                      <a:endParaRPr sz="1600" b="1"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Vrsta</a:t>
                      </a:r>
                      <a:endParaRPr b="1"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game -&gt;genre</a:t>
                      </a:r>
                      <a:endParaRPr b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1:N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E1D1C"/>
                          </a:solidFill>
                        </a:rPr>
                        <a:t>Non-identifying</a:t>
                      </a:r>
                      <a:endParaRPr>
                        <a:solidFill>
                          <a:srgbClr val="1E1D1C"/>
                        </a:solidFill>
                      </a:endParaRPr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game-&gt;studio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1:N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E1D1C"/>
                          </a:solidFill>
                        </a:rPr>
                        <a:t>Non-identifying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game&lt;-&gt;platform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M:N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game_platform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discount-&gt;game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1:N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E1D1C"/>
                          </a:solidFill>
                        </a:rPr>
                        <a:t>Non-identifying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review-&gt;game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1:N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E1D1C"/>
                          </a:solidFill>
                        </a:rPr>
                        <a:t>Non-identifying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review-&gt;customer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1:N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E1D1C"/>
                          </a:solidFill>
                        </a:rPr>
                        <a:t>Non-identifying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purchase-&gt;customer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1:N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E1D1C"/>
                          </a:solidFill>
                        </a:rPr>
                        <a:t>Non-identifying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purchase_item-&gt;purchase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1:N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Identifying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purchase_item-&gt;game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1:N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Identifying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 flipH="1">
            <a:off x="168000" y="410000"/>
            <a:ext cx="143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311700" y="0"/>
            <a:ext cx="8520600" cy="45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Game - </a:t>
            </a:r>
            <a:r>
              <a:rPr lang="ru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glavna tabela, vsebuje vse igre </a:t>
            </a:r>
            <a:endParaRPr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" name="Google Shape;113;p17"/>
          <p:cNvGraphicFramePr/>
          <p:nvPr/>
        </p:nvGraphicFramePr>
        <p:xfrm>
          <a:off x="713725" y="1084781"/>
          <a:ext cx="7239000" cy="3565890"/>
        </p:xfrm>
        <a:graphic>
          <a:graphicData uri="http://schemas.openxmlformats.org/drawingml/2006/table">
            <a:tbl>
              <a:tblPr>
                <a:noFill/>
                <a:tableStyleId>{ECB62D3F-B5D7-4276-A15E-BA537A176E9F}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Column name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Datatype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Lastnosti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Primer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id</a:t>
                      </a:r>
                      <a:endParaRPr b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PK, NN, AI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i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name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VARCHAR(100)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Cyberpunk 2077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release_date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2020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price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DECIMAL(8,2)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49.99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age_rating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18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description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TEXT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-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genre_id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studio_id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 flipH="1">
            <a:off x="114600" y="410000"/>
            <a:ext cx="1971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311700" y="300875"/>
            <a:ext cx="8520600" cy="42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Genre/žanre - predstavlja žanrski tip igre </a:t>
            </a:r>
            <a:endParaRPr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solidFill>
                <a:srgbClr val="1E1D1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solidFill>
                <a:srgbClr val="1E1D1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20" name="Google Shape;120;p18"/>
          <p:cNvGraphicFramePr/>
          <p:nvPr/>
        </p:nvGraphicFramePr>
        <p:xfrm>
          <a:off x="685050" y="175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{ECB62D3F-B5D7-4276-A15E-BA537A176E9F}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Column name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Datatype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Lastnosti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Primer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id</a:t>
                      </a:r>
                      <a:endParaRPr b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PK, NN, AI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i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name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VARCHAR(50)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RPG, Strategy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 flipH="1">
            <a:off x="191100" y="410000"/>
            <a:ext cx="1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311700" y="444150"/>
            <a:ext cx="8520600" cy="4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1E1D1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Studio- predstavlja razvijalce video iger</a:t>
            </a:r>
            <a:endParaRPr>
              <a:solidFill>
                <a:srgbClr val="1E1D1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7" name="Google Shape;127;p19"/>
          <p:cNvGraphicFramePr/>
          <p:nvPr/>
        </p:nvGraphicFramePr>
        <p:xfrm>
          <a:off x="737575" y="1104600"/>
          <a:ext cx="7239000" cy="2986830"/>
        </p:xfrm>
        <a:graphic>
          <a:graphicData uri="http://schemas.openxmlformats.org/drawingml/2006/table">
            <a:tbl>
              <a:tblPr>
                <a:noFill/>
                <a:tableStyleId>{ECB62D3F-B5D7-4276-A15E-BA537A176E9F}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Column name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Datatype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Lastnosti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Primer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id</a:t>
                      </a:r>
                      <a:endParaRPr b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PK, NN, AI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i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name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VARCHAR(100)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Rockstar games, Nintendo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country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VARCHAR(50)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USA, Japan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founded_year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1998, 1889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num_employees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3000, 6700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website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VARCHAR(100)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.com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-401175" y="410000"/>
            <a:ext cx="4011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body" idx="1"/>
          </p:nvPr>
        </p:nvSpPr>
        <p:spPr>
          <a:xfrm>
            <a:off x="197850" y="305650"/>
            <a:ext cx="8520600" cy="41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Game_platform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Vezna tabela M:N (ena igra na več platformah) </a:t>
            </a:r>
            <a:endParaRPr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4" name="Google Shape;134;p20"/>
          <p:cNvGraphicFramePr/>
          <p:nvPr/>
        </p:nvGraphicFramePr>
        <p:xfrm>
          <a:off x="708159" y="146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{ECB62D3F-B5D7-4276-A15E-BA537A176E9F}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Column name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Datatype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Lastnosti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id</a:t>
                      </a:r>
                      <a:endParaRPr b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PK, NN, AI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game_id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platform_id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>
            <a:spLocks noGrp="1"/>
          </p:cNvSpPr>
          <p:nvPr>
            <p:ph type="title"/>
          </p:nvPr>
        </p:nvSpPr>
        <p:spPr>
          <a:xfrm flipH="1">
            <a:off x="-458375" y="410000"/>
            <a:ext cx="3963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body" idx="1"/>
          </p:nvPr>
        </p:nvSpPr>
        <p:spPr>
          <a:xfrm>
            <a:off x="311700" y="62075"/>
            <a:ext cx="8520600" cy="51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Platform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1" name="Google Shape;141;p21"/>
          <p:cNvGraphicFramePr/>
          <p:nvPr/>
        </p:nvGraphicFramePr>
        <p:xfrm>
          <a:off x="699375" y="110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{ECB62D3F-B5D7-4276-A15E-BA537A176E9F}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Column name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Datatype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Lastnosti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Primer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id</a:t>
                      </a:r>
                      <a:endParaRPr b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PK, NN, AI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i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name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VARCHAR(50)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PS5, PC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type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VARCHAR(50)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Computer, console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release_date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2020, 1981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 flipH="1">
            <a:off x="-291325" y="410000"/>
            <a:ext cx="176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body" idx="1"/>
          </p:nvPr>
        </p:nvSpPr>
        <p:spPr>
          <a:xfrm>
            <a:off x="311700" y="0"/>
            <a:ext cx="8520600" cy="45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Purchase- celi nakup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p22"/>
          <p:cNvGraphicFramePr/>
          <p:nvPr/>
        </p:nvGraphicFramePr>
        <p:xfrm>
          <a:off x="708925" y="109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{ECB62D3F-B5D7-4276-A15E-BA537A176E9F}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Column name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Datatype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Lastnosti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Primer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id</a:t>
                      </a:r>
                      <a:endParaRPr b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PK, NN, AI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customer_id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purchase_date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2023-03-18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total_price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DECIMAL(8,2)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69.00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status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ENUM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paid, pending,refunded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payment_method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VARCHAR(30)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PayPal, CreditCard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 flipH="1">
            <a:off x="-468125" y="410000"/>
            <a:ext cx="372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1"/>
          </p:nvPr>
        </p:nvSpPr>
        <p:spPr>
          <a:xfrm>
            <a:off x="311700" y="0"/>
            <a:ext cx="8520600" cy="45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Purchase item- ena stvar iz nakupa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5" name="Google Shape;155;p23"/>
          <p:cNvGraphicFramePr/>
          <p:nvPr/>
        </p:nvGraphicFramePr>
        <p:xfrm>
          <a:off x="694600" y="1095900"/>
          <a:ext cx="4965475" cy="2377260"/>
        </p:xfrm>
        <a:graphic>
          <a:graphicData uri="http://schemas.openxmlformats.org/drawingml/2006/table">
            <a:tbl>
              <a:tblPr>
                <a:noFill/>
                <a:tableStyleId>{ECB62D3F-B5D7-4276-A15E-BA537A176E9F}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Column name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Datatype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Lastnosti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id</a:t>
                      </a:r>
                      <a:endParaRPr b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PK, NN, AI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purchase_id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game_id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quantity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unit_price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DECIMAL(8,2)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 flipH="1">
            <a:off x="-396275" y="410000"/>
            <a:ext cx="3342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4"/>
          <p:cNvSpPr txBox="1">
            <a:spLocks noGrp="1"/>
          </p:cNvSpPr>
          <p:nvPr>
            <p:ph type="body" idx="1"/>
          </p:nvPr>
        </p:nvSpPr>
        <p:spPr>
          <a:xfrm>
            <a:off x="192800" y="0"/>
            <a:ext cx="8520600" cy="45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Customer </a:t>
            </a:r>
            <a:r>
              <a:rPr lang="ru">
                <a:solidFill>
                  <a:srgbClr val="1E1D1C"/>
                </a:solidFill>
                <a:latin typeface="Arial"/>
                <a:ea typeface="Arial"/>
                <a:cs typeface="Arial"/>
                <a:sym typeface="Arial"/>
              </a:rPr>
              <a:t>- registrirane stranke </a:t>
            </a:r>
            <a:endParaRPr>
              <a:solidFill>
                <a:srgbClr val="1E1D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2" name="Google Shape;162;p24"/>
          <p:cNvGraphicFramePr/>
          <p:nvPr/>
        </p:nvGraphicFramePr>
        <p:xfrm>
          <a:off x="699400" y="107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{ECB62D3F-B5D7-4276-A15E-BA537A176E9F}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Column name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Datatype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Lastnosti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Primer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id</a:t>
                      </a:r>
                      <a:endParaRPr b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PK, NN, AI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i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first_name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VARCHAR(50)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Maja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last_name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VARCHAR(50)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Zupan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email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VARCHAR(100)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NN, UQ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@email.com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registration_date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2022-01-22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country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VARCHAR(50)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Slovenia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birth_date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i="1"/>
                        <a:t>2004-02-07</a:t>
                      </a:r>
                      <a:endParaRPr i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>
            <a:spLocks noGrp="1"/>
          </p:cNvSpPr>
          <p:nvPr>
            <p:ph type="title"/>
          </p:nvPr>
        </p:nvSpPr>
        <p:spPr>
          <a:xfrm flipH="1">
            <a:off x="-472775" y="722825"/>
            <a:ext cx="1302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body" idx="1"/>
          </p:nvPr>
        </p:nvSpPr>
        <p:spPr>
          <a:xfrm>
            <a:off x="235275" y="28650"/>
            <a:ext cx="8520600" cy="44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Review - ocene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p25"/>
          <p:cNvGraphicFramePr/>
          <p:nvPr/>
        </p:nvGraphicFramePr>
        <p:xfrm>
          <a:off x="704175" y="1090200"/>
          <a:ext cx="5429250" cy="2773470"/>
        </p:xfrm>
        <a:graphic>
          <a:graphicData uri="http://schemas.openxmlformats.org/drawingml/2006/table">
            <a:tbl>
              <a:tblPr>
                <a:noFill/>
                <a:tableStyleId>{ECB62D3F-B5D7-4276-A15E-BA537A176E9F}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Column name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Datatype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Lastnosti</a:t>
                      </a:r>
                      <a:endParaRPr/>
                    </a:p>
                  </a:txBody>
                  <a:tcPr marL="91425" marR="91425" marT="91425" marB="91425"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id</a:t>
                      </a:r>
                      <a:endParaRPr b="1"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PK, NN, AI</a:t>
                      </a:r>
                      <a:endParaRPr/>
                    </a:p>
                  </a:txBody>
                  <a:tcPr marL="91425" marR="91425" marT="91425" marB="91425"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customer_id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game_id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score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INT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NN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comment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TEXT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review_date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DATE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title"/>
          </p:nvPr>
        </p:nvSpPr>
        <p:spPr>
          <a:xfrm flipH="1">
            <a:off x="-425050" y="410000"/>
            <a:ext cx="3582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1"/>
          </p:nvPr>
        </p:nvSpPr>
        <p:spPr>
          <a:xfrm>
            <a:off x="311700" y="182275"/>
            <a:ext cx="8520600" cy="44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Vse igre                                                                                      Igre po žanru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/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00" y="1517125"/>
            <a:ext cx="37188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300" y="596075"/>
            <a:ext cx="4874549" cy="82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2825" y="596075"/>
            <a:ext cx="3455650" cy="82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1500" y="1517125"/>
            <a:ext cx="3448050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 flipH="1">
            <a:off x="-515550" y="410000"/>
            <a:ext cx="4248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1"/>
          </p:nvPr>
        </p:nvSpPr>
        <p:spPr>
          <a:xfrm>
            <a:off x="311700" y="207594"/>
            <a:ext cx="8520600" cy="43326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 dirty="0"/>
              <a:t>Zgodovina nakupov      			Top 10 iger</a:t>
            </a:r>
            <a:endParaRPr sz="1500" dirty="0"/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475" y="1657575"/>
            <a:ext cx="2843888" cy="256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0625" y="614388"/>
            <a:ext cx="3007450" cy="8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3025" y="1871600"/>
            <a:ext cx="27622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475" y="553996"/>
            <a:ext cx="3505651" cy="97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>
            <a:spLocks noGrp="1"/>
          </p:cNvSpPr>
          <p:nvPr>
            <p:ph type="title"/>
          </p:nvPr>
        </p:nvSpPr>
        <p:spPr>
          <a:xfrm flipH="1">
            <a:off x="-463225" y="410000"/>
            <a:ext cx="4107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8"/>
          <p:cNvSpPr txBox="1">
            <a:spLocks noGrp="1"/>
          </p:cNvSpPr>
          <p:nvPr>
            <p:ph type="body" idx="1"/>
          </p:nvPr>
        </p:nvSpPr>
        <p:spPr>
          <a:xfrm>
            <a:off x="311700" y="163109"/>
            <a:ext cx="8520600" cy="4405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 dirty="0"/>
              <a:t>Ocene iger				       Studii in jih igre</a:t>
            </a:r>
            <a:endParaRPr sz="1500" dirty="0"/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996" y="569298"/>
            <a:ext cx="4064225" cy="79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2493" y="1796375"/>
            <a:ext cx="2488400" cy="209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559" y="1828200"/>
            <a:ext cx="3027750" cy="2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075" y="574600"/>
            <a:ext cx="3929774" cy="95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>
            <a:spLocks noGrp="1"/>
          </p:cNvSpPr>
          <p:nvPr>
            <p:ph type="title"/>
          </p:nvPr>
        </p:nvSpPr>
        <p:spPr>
          <a:xfrm flipH="1">
            <a:off x="-425100" y="410000"/>
            <a:ext cx="3678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9"/>
          <p:cNvSpPr txBox="1">
            <a:spLocks noGrp="1"/>
          </p:cNvSpPr>
          <p:nvPr>
            <p:ph type="body" idx="1"/>
          </p:nvPr>
        </p:nvSpPr>
        <p:spPr>
          <a:xfrm>
            <a:off x="311700" y="291325"/>
            <a:ext cx="8520600" cy="42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 dirty="0"/>
              <a:t>Aktualne popuste na igre			Igre po platformah</a:t>
            </a:r>
            <a:endParaRPr sz="1500" dirty="0"/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98" y="730648"/>
            <a:ext cx="4346575" cy="9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75" y="2081463"/>
            <a:ext cx="36576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7850" y="2048325"/>
            <a:ext cx="20955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0398" y="730648"/>
            <a:ext cx="3164850" cy="10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638</Words>
  <Application>Microsoft Office PowerPoint</Application>
  <PresentationFormat>Экран (16:9)</PresentationFormat>
  <Paragraphs>249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Roboto</vt:lpstr>
      <vt:lpstr>Arial</vt:lpstr>
      <vt:lpstr>Georgia</vt:lpstr>
      <vt:lpstr>Geometric</vt:lpstr>
      <vt:lpstr>Katalog video iger</vt:lpstr>
      <vt:lpstr>Namen praktične uporabe </vt:lpstr>
      <vt:lpstr>               Entitetni model — shema tabel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Anna Dankova</cp:lastModifiedBy>
  <cp:revision>4</cp:revision>
  <dcterms:modified xsi:type="dcterms:W3CDTF">2026-05-13T11:49:58Z</dcterms:modified>
</cp:coreProperties>
</file>